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Welcome to the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A map of the financial world before we choose any route.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STOCKS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ETFs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what a financial market does and why companies issue shares.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Distinguish stocks, ETFs, bonds, futures, options and crypto at a high level.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Separate investing from trading by objective and holding period.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Connect return to uncertainty rather than treating return as a promise.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WHY MARKETS EXIST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Capital needs owners; owners need liquidity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Markets connect people who need capital with people willing to bear risk.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1089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Company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29443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Needs capital for factories, research, hiring or expansion. Equity financing exchanges ownership for capital.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20240"/>
            <a:ext cx="73152" cy="31089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Investor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578608"/>
            <a:ext cx="29443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Provides capital because future cash flows or price appreciation may compensate for risk.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920240"/>
            <a:ext cx="73152" cy="31089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Market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578608"/>
            <a:ext cx="294436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Creates a place where ownership claims can be issued, bought and sold.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Owning a share means owning an equity interest in a corporation; it does not guarantee a return.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MARKET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Different instruments answer different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Do not compare products only by whether their price can go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16459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Stock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Ownership in one company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Company-specific business risk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783080"/>
            <a:ext cx="73152" cy="16459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ETF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44144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traded basket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Portfolio construction + fees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783080"/>
            <a:ext cx="73152" cy="16459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Bond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44144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debt claim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Credit + interest-rate risk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379476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94760"/>
            <a:ext cx="73152" cy="16459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95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Future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45312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Standardised derivative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Notional exposure + margin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389120" y="379476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794760"/>
            <a:ext cx="73152" cy="16459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995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Option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45312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Conditional right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Payoff shape + time/volatility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183880" y="3794760"/>
            <a:ext cx="34290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794760"/>
            <a:ext cx="73152" cy="16459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995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Crypto asset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4453128"/>
            <a:ext cx="29900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Digital asset/exposure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lens: Custody + market structure + volatility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Why shares became tradable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Publicly tradable shares solved a financing problem — and created a secondary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9875520" cy="0"/>
          </a:xfrm>
          <a:prstGeom prst="line">
            <a:avLst/>
          </a:prstGeom>
          <a:noFill/>
          <a:ln w="2540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063240"/>
            <a:ext cx="347472" cy="347472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4437"/>
                </a:solidFill>
              </a:rPr>
              <a:t>1602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VOC shares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6660"/>
                </a:solidFill>
              </a:rPr>
              <a:t>Tradable public shares helped finance a large enterprise.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63240"/>
            <a:ext cx="347472" cy="34747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1792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Buttonwood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0156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6660"/>
                </a:solidFill>
              </a:rPr>
              <a:t>A milestone in the development of the NYSE.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063240"/>
            <a:ext cx="347472" cy="34747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20th c.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Mass ownership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624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6660"/>
                </a:solidFill>
              </a:rPr>
              <a:t>Brokers and exchanges broadened access.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424160" y="3063240"/>
            <a:ext cx="347472" cy="34747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556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Today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2124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Electronic markets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1092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6660"/>
                </a:solidFill>
              </a:rPr>
              <a:t>Orders route through highly automated venues.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Historical milestone: Euronext identifies the 1602 VOC share issue as foundational to the Amsterdam exchange.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Investing and trading are different decision problems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Investing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Primary question: what is this asset worth over a long horizon?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 may include cash flows, valuation, diversification and economic exposure.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Turnover is usually lower; transaction costs matter but less frequently.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Trading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Primary question: what market behaviour do I expect over this horizon?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 may include price, volume, catalysts or market structure.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Shorter horizons increase the importance of execution, spread and timing.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RISK AND RETURN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Return is what happened; risk is what could go wrong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higher expected return is not a guaranteed return.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671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Cash-like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23160" y="21488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148840"/>
            <a:ext cx="625450" cy="29260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Diversified bonds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834640"/>
            <a:ext cx="1216152" cy="292608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38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Diversified equities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423160" y="35204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520440"/>
            <a:ext cx="2154326" cy="292608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Leveraged speculation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423160" y="42062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4206240"/>
            <a:ext cx="3231490" cy="29260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7"/>
                </a:solidFill>
              </a:rPr>
              <a:t>Illustrative risk ladder — not a forecast of returns.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42062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Risk includes uncertainty about outcomes, drawdowns, liquidity, leverage, concentration and behavioural mistakes.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This course keeps asking one question: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“What can make this position fail?”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SEMESTER ARC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From ownership to leverage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Weeks 1–12 become progressively less forgiving of vague thinking.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Own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is the asset?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Trade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does an order become a transaction?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is price information represented?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much can I lose?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Leverage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happens when exposure exceeds capital?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One person, three possible uses of $1,000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Same capital, different objective → different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337560" cy="3200400"/>
          </a:xfrm>
          <a:prstGeom prst="roundRect">
            <a:avLst>
              <a:gd name="adj" fmla="val 1714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Investor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24328"/>
            <a:ext cx="289864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Buys a broad ETF for long-term diversified exposure. Main questions: fees, diversification, time horizon, capacity for drawdowns.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07408" y="1965960"/>
            <a:ext cx="333756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96596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Trader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2624328"/>
            <a:ext cx="289864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Trades one liquid stock over several days. Main questions: trend, catalyst, entry, invalidation, position size.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83296" y="1965960"/>
            <a:ext cx="333756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96596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Trader 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11896" y="2624328"/>
            <a:ext cx="289864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Uses leverage on a short horizon. Now execution, margin and forced exits can matter as much as direction.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Build your own market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Pairs • 8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4864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Choose one real-world goal: retirement saving, a one-year purchase, or short-term speculation.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For that goal, classify which instrument types are plausible and which are obviously mismatched.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For each plausible instrument, write one risk that has nothing to do with “price goes down”.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Be ready to defend one exclusion.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2057400"/>
            <a:ext cx="4114800" cy="2468880"/>
          </a:xfrm>
          <a:prstGeom prst="roundRect">
            <a:avLst>
              <a:gd name="adj" fmla="val 222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057400"/>
            <a:ext cx="73152" cy="2468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2585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Constraint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0" y="2715768"/>
            <a:ext cx="3675888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are not choosing what will make the most money. You are choosing what fits the goal and risk capacity.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A stock is an ownership claim, not a lottery ticket.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Different instruments package different rights, obligations and risks.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Investing and trading ask different questions because their horizons differ.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Return is uncertain; risk management begins before product selection.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what actually happens between clicking BUY and owning the position?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Stocks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https://www.investor.gov/introduction-investing/investing-basics/investment-products/stocks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Investment Products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https://www.investor.gov/introduction-investing/investing-basics/investment-products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Risk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https://www.investor.gov/introduction-investing/investing-basics/what-risk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Euronext — Amsterdam exchange history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803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https://www.euronext.com/en/about/media/bell-ceremony-archive/417th-anniversary-amsterdam-exchange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462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NYSE — History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23360" y="4462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https://www.nyse.com/history-of-nyse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Welcome to the Market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