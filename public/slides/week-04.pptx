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RETAIL MARKET SURVIVAL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378440" y="65288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96660"/>
                </a:solidFill>
              </a:rPr>
              <a:t>WEEK 4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875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60" kern="0" dirty="0">
                <a:solidFill>
                  <a:srgbClr val="C74437"/>
                </a:solidFill>
              </a:rPr>
              <a:t>WEEK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58368" y="15087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717"/>
                </a:solidFill>
              </a:rPr>
              <a:t>Reading Price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299923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96660"/>
                </a:solidFill>
              </a:rPr>
              <a:t>Candles compress history. Context turns that history into an observation — not a prophecy.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0"/>
            <a:ext cx="37490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1956816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2542032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3127248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712464"/>
            <a:ext cx="3200400" cy="0"/>
          </a:xfrm>
          <a:prstGeom prst="line">
            <a:avLst/>
          </a:prstGeom>
          <a:noFill/>
          <a:ln w="10160">
            <a:solidFill>
              <a:srgbClr val="ECE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48472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78824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09176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39528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69880" y="1353312"/>
            <a:ext cx="0" cy="2788920"/>
          </a:xfrm>
          <a:prstGeom prst="line">
            <a:avLst/>
          </a:prstGeom>
          <a:noFill/>
          <a:ln w="10160">
            <a:solidFill>
              <a:srgbClr val="F0EC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3520440"/>
            <a:ext cx="468173" cy="-2743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3453" y="3246120"/>
            <a:ext cx="409651" cy="1143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33104" y="3360420"/>
            <a:ext cx="497434" cy="-48006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30538" y="2880360"/>
            <a:ext cx="380390" cy="9144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10928" y="2971800"/>
            <a:ext cx="468173" cy="-50292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9101" y="2468880"/>
            <a:ext cx="468173" cy="18288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47274" y="2651760"/>
            <a:ext cx="234086" cy="-457200"/>
          </a:xfrm>
          <a:prstGeom prst="line">
            <a:avLst/>
          </a:prstGeom>
          <a:noFill/>
          <a:ln w="35560">
            <a:solidFill>
              <a:srgbClr val="315C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18120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2984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OHLC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45752" y="49834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50474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VOLUME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18120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72984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45752" y="5440680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5504688"/>
            <a:ext cx="1307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Retail Market Survival • beginner-level course • not personalised financial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LEARNING GOALS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you should be able to 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course is cumulative: each week gives the next week more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9384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02996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Read open, high, low and close from a candlestick.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77977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Explain why timeframe changes the meaning of the same price path.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77240" y="3429000"/>
            <a:ext cx="411480" cy="411480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52958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3419856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</a:rPr>
              <a:t>Use volume, trend, range, gaps and support/resistance as descriptive context.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8"/>
            <a:ext cx="411480" cy="411480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427939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4169664"/>
            <a:ext cx="9235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1717"/>
                </a:solidFill>
              </a:rPr>
              <a:t>Avoid treating chart patterns as deterministic forecasts.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CANDLESTICK ANATOMY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Four prices, one interval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candle is a compressed record of what happened during a chosen window.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0" y="1920240"/>
            <a:ext cx="0" cy="3108960"/>
          </a:xfrm>
          <a:prstGeom prst="line">
            <a:avLst/>
          </a:prstGeom>
          <a:noFill/>
          <a:ln w="17780">
            <a:solidFill>
              <a:srgbClr val="1717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2697480"/>
            <a:ext cx="457200" cy="114300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828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</a:rPr>
              <a:t>HIGH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2670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E5B"/>
                </a:solidFill>
              </a:rPr>
              <a:t>CLOSE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3703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E5B"/>
                </a:solidFill>
              </a:rPr>
              <a:t>OPEN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4800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</a:rPr>
              <a:t>LOW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77840" y="1828800"/>
            <a:ext cx="493776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Open: first traded price in the interval.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High / Low: extremes reached during the interval.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Close: final traded price in the interval.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Colour convention varies by charting system; meaning comes from the numbers.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TIMEFRAME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One market, many clocks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1-minute candle and a daily candle describe different compression levels.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246120" cy="3200400"/>
          </a:xfrm>
          <a:prstGeom prst="roundRect">
            <a:avLst>
              <a:gd name="adj" fmla="val 1714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20240"/>
            <a:ext cx="73152" cy="320040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214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1 minute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78608"/>
            <a:ext cx="280720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High detail, high noise. Useful for execution context; weak for long-horizon claims.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62272" y="1920240"/>
            <a:ext cx="3246120" cy="3200400"/>
          </a:xfrm>
          <a:prstGeom prst="roundRect">
            <a:avLst>
              <a:gd name="adj" fmla="val 1714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2272" y="1920240"/>
            <a:ext cx="73152" cy="320040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1214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1 hour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90872" y="2578608"/>
            <a:ext cx="280720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Compresses intraday noise. Useful for short swing structure and session context.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93024" y="1920240"/>
            <a:ext cx="3246120" cy="3200400"/>
          </a:xfrm>
          <a:prstGeom prst="roundRect">
            <a:avLst>
              <a:gd name="adj" fmla="val 1714"/>
            </a:avLst>
          </a:prstGeom>
          <a:solidFill>
            <a:srgbClr val="EAF3F0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3024" y="1920240"/>
            <a:ext cx="73152" cy="3200400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21624" y="21214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1 day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21624" y="2578608"/>
            <a:ext cx="280720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Shows multi-session structure. Useful for longer trend/range observations.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TREND AND RANGE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Direction is a description of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A trend is not “price is green today”.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5074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69464"/>
            <a:ext cx="507492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264408"/>
            <a:ext cx="507492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959352"/>
            <a:ext cx="507492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654296"/>
            <a:ext cx="507492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65885" y="187452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00250" y="187452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34615" y="187452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8980" y="187452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03345" y="187452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7710" y="187452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72075" y="187452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323" y="4133088"/>
            <a:ext cx="0" cy="694944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0887" y="4272077"/>
            <a:ext cx="118872" cy="312725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1897" y="3750869"/>
            <a:ext cx="0" cy="694944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02461" y="3889858"/>
            <a:ext cx="118872" cy="382219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3471" y="3611880"/>
            <a:ext cx="0" cy="590702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04035" y="3855110"/>
            <a:ext cx="118872" cy="24323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65045" y="3542386"/>
            <a:ext cx="0" cy="694944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05609" y="3681374"/>
            <a:ext cx="118872" cy="382219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66619" y="3264408"/>
            <a:ext cx="0" cy="625450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07183" y="3368650"/>
            <a:ext cx="118872" cy="277978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68193" y="3055925"/>
            <a:ext cx="0" cy="590702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08757" y="3368650"/>
            <a:ext cx="118872" cy="138989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69767" y="2847442"/>
            <a:ext cx="0" cy="764438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10331" y="2951683"/>
            <a:ext cx="118872" cy="521208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71341" y="2638958"/>
            <a:ext cx="0" cy="555955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11905" y="2777947"/>
            <a:ext cx="118872" cy="173736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72915" y="2499970"/>
            <a:ext cx="0" cy="555955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3479" y="2812694"/>
            <a:ext cx="118872" cy="138989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74489" y="2743200"/>
            <a:ext cx="0" cy="625450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5053" y="2986430"/>
            <a:ext cx="118872" cy="24323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76063" y="2812694"/>
            <a:ext cx="0" cy="590702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16627" y="2916936"/>
            <a:ext cx="118872" cy="347472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77637" y="2326234"/>
            <a:ext cx="0" cy="660197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18201" y="2465222"/>
            <a:ext cx="118872" cy="416966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6E5B"/>
                </a:solidFill>
              </a:rPr>
              <a:t>Trend observation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355080" y="2514600"/>
            <a:ext cx="43891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</a:rPr>
              <a:t>Look for a sequence of swing highs/lows or another explicit structural rule.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</a:rPr>
              <a:t>Range observation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</a:rPr>
              <a:t>Price repeatedly trades inside a bounded region without sustained directional progress.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SUPPORT AND RESISTANCE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Think areas of prior interaction, not magical laser lines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The more precise your line, the more likely reality will ignore your precision.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400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23744"/>
            <a:ext cx="640080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218688"/>
            <a:ext cx="640080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913632"/>
            <a:ext cx="640080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608576"/>
            <a:ext cx="640080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3162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182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3202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32220" y="1828800"/>
            <a:ext cx="0" cy="347472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5568" y="4087368"/>
            <a:ext cx="0" cy="694944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132" y="4226357"/>
            <a:ext cx="118872" cy="312725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27632" y="3705149"/>
            <a:ext cx="0" cy="694944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68196" y="3844138"/>
            <a:ext cx="118872" cy="382219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9696" y="3566160"/>
            <a:ext cx="0" cy="590702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80260" y="3809390"/>
            <a:ext cx="118872" cy="24323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0" y="3496666"/>
            <a:ext cx="0" cy="694944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92324" y="3635654"/>
            <a:ext cx="118872" cy="382219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63824" y="3218688"/>
            <a:ext cx="0" cy="625450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4388" y="3322930"/>
            <a:ext cx="118872" cy="277978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75888" y="3010205"/>
            <a:ext cx="0" cy="590702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16452" y="3322930"/>
            <a:ext cx="118872" cy="138989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87952" y="2801722"/>
            <a:ext cx="0" cy="764438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28516" y="2905963"/>
            <a:ext cx="118872" cy="521208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0016" y="2593238"/>
            <a:ext cx="0" cy="555955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0580" y="2732227"/>
            <a:ext cx="118872" cy="173736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0" y="2454250"/>
            <a:ext cx="0" cy="555955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52644" y="2766974"/>
            <a:ext cx="118872" cy="138989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24144" y="2697480"/>
            <a:ext cx="0" cy="625450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4708" y="2940710"/>
            <a:ext cx="118872" cy="24323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36208" y="2766974"/>
            <a:ext cx="0" cy="590702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6772" y="2871216"/>
            <a:ext cx="118872" cy="347472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48272" y="2280514"/>
            <a:ext cx="0" cy="660197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88836" y="2419502"/>
            <a:ext cx="118872" cy="416966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" y="3977640"/>
            <a:ext cx="6400800" cy="347472"/>
          </a:xfrm>
          <a:prstGeom prst="rect">
            <a:avLst/>
          </a:prstGeom>
          <a:solidFill>
            <a:srgbClr val="F7E5E2">
              <a:alpha val="65000"/>
            </a:srgbClr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" y="2423160"/>
            <a:ext cx="6400800" cy="347472"/>
          </a:xfrm>
          <a:prstGeom prst="rect">
            <a:avLst/>
          </a:prstGeom>
          <a:solidFill>
            <a:srgbClr val="E4F0EC">
              <a:alpha val="65000"/>
            </a:srgbClr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187452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35240" y="1874520"/>
            <a:ext cx="73152" cy="320040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20756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Better question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863840" y="2532888"/>
            <a:ext cx="299008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Where has price repeatedly attracted or rejected trading activity?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Then ask: what would make that observation no longer useful?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VOLUME AND GAPS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Price tells you where; volume hints at participation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Neither is a standalone signal.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246120" cy="3200400"/>
          </a:xfrm>
          <a:prstGeom prst="roundRect">
            <a:avLst>
              <a:gd name="adj" fmla="val 1714"/>
            </a:avLst>
          </a:prstGeom>
          <a:solidFill>
            <a:srgbClr val="EAF0F6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920240"/>
            <a:ext cx="73152" cy="3200400"/>
          </a:xfrm>
          <a:prstGeom prst="rect">
            <a:avLst/>
          </a:prstGeom>
          <a:solidFill>
            <a:srgbClr val="315C88"/>
          </a:solidFill>
          <a:ln w="12700">
            <a:solidFill>
              <a:srgbClr val="315C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214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Volume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578608"/>
            <a:ext cx="280720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How much trading occurred during the interval. Compare with relevant recent context rather than an arbitrary absolute number.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246120" cy="3200400"/>
          </a:xfrm>
          <a:prstGeom prst="roundRect">
            <a:avLst>
              <a:gd name="adj" fmla="val 1714"/>
            </a:avLst>
          </a:prstGeom>
          <a:solidFill>
            <a:srgbClr val="F5F0E3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920240"/>
            <a:ext cx="73152" cy="3200400"/>
          </a:xfrm>
          <a:prstGeom prst="rect">
            <a:avLst/>
          </a:prstGeom>
          <a:solidFill>
            <a:srgbClr val="A47B23"/>
          </a:solidFill>
          <a:ln w="12700">
            <a:solidFill>
              <a:srgbClr val="A47B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1214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Gap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2578608"/>
            <a:ext cx="280720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 jump between one session/interval and the next can reflect new information or thin liquidity.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83880" y="1920240"/>
            <a:ext cx="3246120" cy="3200400"/>
          </a:xfrm>
          <a:prstGeom prst="roundRect">
            <a:avLst>
              <a:gd name="adj" fmla="val 1714"/>
            </a:avLst>
          </a:prstGeom>
          <a:solidFill>
            <a:srgbClr val="FBEDEA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920240"/>
            <a:ext cx="73152" cy="320040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1214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</a:rPr>
              <a:t>Context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2578608"/>
            <a:ext cx="2807208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96660"/>
                </a:solidFill>
              </a:rPr>
              <a:t>Ask whether the observation agrees with the chosen horizon, liquidity and broader price structure.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ACTIVITY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Describe before you predict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Pairs • 10 minutes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5778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F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05456"/>
            <a:ext cx="557784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182112"/>
            <a:ext cx="557784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858768"/>
            <a:ext cx="557784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535424"/>
            <a:ext cx="5577840" cy="0"/>
          </a:xfrm>
          <a:prstGeom prst="line">
            <a:avLst/>
          </a:prstGeom>
          <a:noFill/>
          <a:ln w="7620">
            <a:solidFill>
              <a:srgbClr val="EFE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28750" y="1828800"/>
            <a:ext cx="0" cy="338328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5980" y="1828800"/>
            <a:ext cx="0" cy="338328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23210" y="1828800"/>
            <a:ext cx="0" cy="338328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828800"/>
            <a:ext cx="0" cy="338328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17670" y="1828800"/>
            <a:ext cx="0" cy="338328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14900" y="1828800"/>
            <a:ext cx="0" cy="338328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12130" y="1828800"/>
            <a:ext cx="0" cy="3383280"/>
          </a:xfrm>
          <a:prstGeom prst="line">
            <a:avLst/>
          </a:prstGeom>
          <a:noFill/>
          <a:ln w="7620">
            <a:solidFill>
              <a:srgbClr val="F2E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81278" y="4027932"/>
            <a:ext cx="0" cy="676656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1842" y="4163263"/>
            <a:ext cx="118872" cy="304495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24762" y="3655771"/>
            <a:ext cx="0" cy="676656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5326" y="3791102"/>
            <a:ext cx="118872" cy="372161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68246" y="3520440"/>
            <a:ext cx="0" cy="575158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8810" y="3757270"/>
            <a:ext cx="118872" cy="23683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11730" y="3452774"/>
            <a:ext cx="0" cy="676656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2294" y="3588106"/>
            <a:ext cx="118872" cy="372161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55214" y="3182112"/>
            <a:ext cx="0" cy="608990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95778" y="3283610"/>
            <a:ext cx="118872" cy="270662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8698" y="2979115"/>
            <a:ext cx="0" cy="575158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39262" y="3283610"/>
            <a:ext cx="118872" cy="135331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42182" y="2776118"/>
            <a:ext cx="0" cy="744322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82746" y="2877617"/>
            <a:ext cx="118872" cy="507492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85666" y="2573122"/>
            <a:ext cx="0" cy="541325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26230" y="2708453"/>
            <a:ext cx="118872" cy="169164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29150" y="2437790"/>
            <a:ext cx="0" cy="541325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69714" y="2742286"/>
            <a:ext cx="118872" cy="135331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72634" y="2674620"/>
            <a:ext cx="0" cy="608990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13198" y="2911450"/>
            <a:ext cx="118872" cy="236830"/>
          </a:xfrm>
          <a:prstGeom prst="rect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16118" y="2742286"/>
            <a:ext cx="0" cy="575158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56682" y="2843784"/>
            <a:ext cx="118872" cy="338328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59602" y="2268626"/>
            <a:ext cx="0" cy="642823"/>
          </a:xfrm>
          <a:prstGeom prst="line">
            <a:avLst/>
          </a:prstGeom>
          <a:noFill/>
          <a:ln w="11430">
            <a:solidFill>
              <a:srgbClr val="17171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00166" y="2403958"/>
            <a:ext cx="118872" cy="405994"/>
          </a:xfrm>
          <a:prstGeom prst="rect">
            <a:avLst/>
          </a:prstGeom>
          <a:solidFill>
            <a:srgbClr val="2E6E5B"/>
          </a:solidFill>
          <a:ln w="12700">
            <a:solidFill>
              <a:srgbClr val="2E6E5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1965960"/>
            <a:ext cx="438912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Write three purely descriptive statements about the simulated chart.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Write one interpretation that depends on an explicit rule.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71717"/>
                </a:solidFill>
              </a:rPr>
              <a:t>Write one prediction you are tempted to make — then list what evidence would invalidate it.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Simulated chart; the exercise is about language discipline, not guessing the next candle.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What should survive after the details fade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Carry these ideas into the next week.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984248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Candles compress open, high, low and close over a chosen interval.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587752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79192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Timeframe changes what the same price movement means.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22960" y="3282696"/>
            <a:ext cx="384048" cy="384048"/>
          </a:xfrm>
          <a:prstGeom prst="ellipse">
            <a:avLst/>
          </a:prstGeom>
          <a:solidFill>
            <a:srgbClr val="171717"/>
          </a:solidFill>
          <a:ln w="12700">
            <a:solidFill>
              <a:srgbClr val="1717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374136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1717"/>
                </a:solidFill>
              </a:rPr>
              <a:t>Trend, range, volume and levels are descriptive context.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22960" y="3977640"/>
            <a:ext cx="384048" cy="384048"/>
          </a:xfrm>
          <a:prstGeom prst="ellipse">
            <a:avLst/>
          </a:prstGeom>
          <a:solidFill>
            <a:srgbClr val="C74437"/>
          </a:solidFill>
          <a:ln w="12700">
            <a:solidFill>
              <a:srgbClr val="C744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069080"/>
            <a:ext cx="1554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08760" y="3959352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4437"/>
                </a:solidFill>
              </a:rPr>
              <a:t>Charts become dangerous when observations are silently promoted into certainty.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5C88"/>
                </a:solidFill>
              </a:rPr>
              <a:t>Next week: turn observations into risk-limited decisions before we introduce actual strategies.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C74437"/>
                </a:solidFill>
              </a:rPr>
              <a:t>SOURCES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44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717"/>
                </a:solidFill>
              </a:rPr>
              <a:t>Further reading and reference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4813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96660"/>
                </a:solidFill>
              </a:rPr>
              <a:t>Primary educational sources used for definitions and risk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FINRA — Order Types / market mechanics context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https://www.finra.org/investors/investing/investment-products/stocks/order-types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1717"/>
                </a:solidFill>
              </a:rPr>
              <a:t>Investor.gov — Stocks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023360" y="2487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15C88"/>
                </a:solidFill>
              </a:rPr>
              <a:t>https://www.investor.gov/introduction-investing/investing-basics/investment-products/stocks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605332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696660"/>
                </a:solidFill>
              </a:rPr>
              <a:t>Educational material only. Examples are simulated unless explicitly identified as historical facts.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2881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9666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Slop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— Reading Price</dc:title>
  <dc:subject>Retail Market Survival lecture deck</dc:subject>
  <dc:creator>COMP4020 Assignment 2</dc:creator>
  <cp:lastModifiedBy>COMP4020 Assignment 2</cp:lastModifiedBy>
  <cp:revision>1</cp:revision>
  <dcterms:created xsi:type="dcterms:W3CDTF">2026-09-02T10:55:19Z</dcterms:created>
  <dcterms:modified xsi:type="dcterms:W3CDTF">2026-09-02T10:55:19Z</dcterms:modified>
</cp:coreProperties>
</file>