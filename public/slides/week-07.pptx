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Day Trading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VWAP, liquidity and why speed changes the game.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VWAP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LIQUIDITY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SLIPPAGE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what changes when the holding period collapses from days to minutes.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Read intraday price action without treating each candle as a signal.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Use VWAP as a session reference rather than a magic line.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why liquidity, spread and slippage can overwhelm a small edge.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" y="4928616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02920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4919472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Build an intraday plan with trigger, invalidation and maximum loss.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HOLDING PERIODS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Day trading is not swing trading played faster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shorter horizon changes evidence, costs and execution risk.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375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73152" cy="310896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67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Long-term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624328"/>
            <a:ext cx="289864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Months–years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Main 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Value / business thesis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3375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965960"/>
            <a:ext cx="73152" cy="310896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67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Swing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624328"/>
            <a:ext cx="289864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Days–weeks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Main 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Trend / catalyst / structure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965960"/>
            <a:ext cx="3337560" cy="3108960"/>
          </a:xfrm>
          <a:prstGeom prst="roundRect">
            <a:avLst>
              <a:gd name="adj" fmla="val 1765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965960"/>
            <a:ext cx="73152" cy="31089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167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Day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624328"/>
            <a:ext cx="289864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Seconds–hours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Main evidence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Liquidity / execution / intraday context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LIQUIDITY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The invisible constraint on fast trading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chart does not show you how expensive execution may become.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4754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5B"/>
                </a:solidFill>
              </a:rPr>
              <a:t>BID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717"/>
                </a:solidFill>
              </a:rPr>
              <a:t>$49.98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6052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7"/>
                </a:solidFill>
              </a:rPr>
              <a:t>ASK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23360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717"/>
                </a:solidFill>
              </a:rPr>
              <a:t>$50.02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3200400" y="2148840"/>
            <a:ext cx="0" cy="214884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977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5C88"/>
                </a:solidFill>
              </a:rPr>
              <a:t>Spread = $0.04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1965960"/>
            <a:ext cx="493776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2250" indent="-222250">
              <a:buSzPct val="100000"/>
              <a:buChar char="•"/>
            </a:pPr>
            <a:r>
              <a:rPr lang="en-US" sz="1750" dirty="0">
                <a:solidFill>
                  <a:srgbClr val="171717"/>
                </a:solidFill>
              </a:rPr>
              <a:t>Spread is paid when you cross from bid to ask or vice versa.</a:t>
            </a:r>
            <a:endParaRPr lang="en-US" sz="1750" dirty="0"/>
          </a:p>
          <a:p>
            <a:pPr marL="222250" indent="-222250">
              <a:buSzPct val="100000"/>
              <a:buChar char="•"/>
            </a:pPr>
            <a:r>
              <a:rPr lang="en-US" sz="1750" dirty="0">
                <a:solidFill>
                  <a:srgbClr val="171717"/>
                </a:solidFill>
              </a:rPr>
              <a:t>Slippage is the difference between expected and actual execution.</a:t>
            </a:r>
            <a:endParaRPr lang="en-US" sz="1750" dirty="0"/>
          </a:p>
          <a:p>
            <a:pPr marL="222250" indent="-222250">
              <a:buSzPct val="100000"/>
              <a:buChar char="•"/>
            </a:pPr>
            <a:r>
              <a:rPr lang="en-US" sz="1750" dirty="0">
                <a:solidFill>
                  <a:srgbClr val="171717"/>
                </a:solidFill>
              </a:rPr>
              <a:t>Thin depth can make large orders move through several price levels.</a:t>
            </a:r>
            <a:endParaRPr lang="en-US" sz="1750" dirty="0"/>
          </a:p>
          <a:p>
            <a:pPr marL="222250" indent="-222250">
              <a:buSzPct val="100000"/>
              <a:buChar char="•"/>
            </a:pPr>
            <a:r>
              <a:rPr lang="en-US" sz="1750" dirty="0">
                <a:solidFill>
                  <a:srgbClr val="171717"/>
                </a:solidFill>
              </a:rPr>
              <a:t>The shorter the expected move, the more these costs matter.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VWAP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Where has trading occurred, weighted by volume?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VWAP = Σ(Price × Volume) / Σ Volume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0" y="1828800"/>
            <a:ext cx="4937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2523744"/>
            <a:ext cx="493776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3218688"/>
            <a:ext cx="493776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3913632"/>
            <a:ext cx="493776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4608576"/>
            <a:ext cx="493776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4370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7814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1258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2980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4702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9568" y="4087368"/>
            <a:ext cx="0" cy="69494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0132" y="4226357"/>
            <a:ext cx="118872" cy="312725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39712" y="3705149"/>
            <a:ext cx="0" cy="69494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0276" y="3844138"/>
            <a:ext cx="118872" cy="382219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9856" y="3566160"/>
            <a:ext cx="0" cy="59070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0420" y="3809390"/>
            <a:ext cx="118872" cy="24323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0000" y="3496666"/>
            <a:ext cx="0" cy="69494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0564" y="3635654"/>
            <a:ext cx="118872" cy="382219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0144" y="3218688"/>
            <a:ext cx="0" cy="62545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0708" y="3322930"/>
            <a:ext cx="118872" cy="27797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00288" y="3010205"/>
            <a:ext cx="0" cy="59070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0852" y="3322930"/>
            <a:ext cx="118872" cy="138989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90432" y="2801722"/>
            <a:ext cx="0" cy="764438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30996" y="2905963"/>
            <a:ext cx="118872" cy="52120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0576" y="2593238"/>
            <a:ext cx="0" cy="55595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21140" y="2732227"/>
            <a:ext cx="118872" cy="173736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70720" y="2454250"/>
            <a:ext cx="0" cy="55595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11284" y="2766974"/>
            <a:ext cx="118872" cy="138989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0864" y="2697480"/>
            <a:ext cx="0" cy="62545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01428" y="2940710"/>
            <a:ext cx="118872" cy="24323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51008" y="2766974"/>
            <a:ext cx="0" cy="59070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91572" y="2871216"/>
            <a:ext cx="118872" cy="347472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41152" y="2280514"/>
            <a:ext cx="0" cy="660197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81716" y="2419502"/>
            <a:ext cx="118872" cy="416966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74613" y="3948379"/>
            <a:ext cx="691286" cy="-69494"/>
          </a:xfrm>
          <a:prstGeom prst="line">
            <a:avLst/>
          </a:prstGeom>
          <a:noFill/>
          <a:ln w="27940">
            <a:solidFill>
              <a:srgbClr val="315C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65899" y="3878885"/>
            <a:ext cx="691286" cy="-104242"/>
          </a:xfrm>
          <a:prstGeom prst="line">
            <a:avLst/>
          </a:prstGeom>
          <a:noFill/>
          <a:ln w="27940">
            <a:solidFill>
              <a:srgbClr val="315C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57186" y="3774643"/>
            <a:ext cx="740664" cy="-104242"/>
          </a:xfrm>
          <a:prstGeom prst="line">
            <a:avLst/>
          </a:prstGeom>
          <a:noFill/>
          <a:ln w="27940">
            <a:solidFill>
              <a:srgbClr val="315C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97850" y="3670402"/>
            <a:ext cx="740664" cy="-138989"/>
          </a:xfrm>
          <a:prstGeom prst="line">
            <a:avLst/>
          </a:prstGeom>
          <a:noFill/>
          <a:ln w="27940">
            <a:solidFill>
              <a:srgbClr val="315C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38514" y="3531413"/>
            <a:ext cx="790042" cy="-173736"/>
          </a:xfrm>
          <a:prstGeom prst="line">
            <a:avLst/>
          </a:prstGeom>
          <a:noFill/>
          <a:ln w="27940">
            <a:solidFill>
              <a:srgbClr val="315C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28555" y="3357677"/>
            <a:ext cx="938174" cy="-208483"/>
          </a:xfrm>
          <a:prstGeom prst="line">
            <a:avLst/>
          </a:prstGeom>
          <a:noFill/>
          <a:ln w="27940">
            <a:solidFill>
              <a:srgbClr val="315C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1965960"/>
            <a:ext cx="480060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Common intraday VWAP resets for the trading session.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High-volume trades influence the average more than low-volume trades.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VWAP describes the session distribution of traded prices.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It does not know the next trade.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Above or below VWAP is not enough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same line behaves differently in different market conditions.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73152" cy="324612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Trend day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Repeated pullbacks hold on one side of VWAP.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VWAP can act as a reference inside a trend process.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73152" cy="324612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Range day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Price crosses VWAP repeatedly.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Crosses may be noise rather than meaningful signals.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874520"/>
            <a:ext cx="3246120" cy="3246120"/>
          </a:xfrm>
          <a:prstGeom prst="roundRect">
            <a:avLst>
              <a:gd name="adj" fmla="val 1690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874520"/>
            <a:ext cx="73152" cy="32461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News shock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532888"/>
            <a:ext cx="280720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Price reprices rapidly away from the prior session average.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The average can lag the new information.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EXECUTION TAX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Fast trading has small margins for error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correct directional view can still lose after implementation costs.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756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Spread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23160" y="205740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2057400"/>
            <a:ext cx="2710282" cy="292608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15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Slippage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423160" y="269748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2697480"/>
            <a:ext cx="2189074" cy="292608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558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Fees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423160" y="333756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3337560"/>
            <a:ext cx="1181405" cy="292608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959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Delay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423160" y="397764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3977640"/>
            <a:ext cx="1667866" cy="292608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36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717"/>
                </a:solidFill>
              </a:rPr>
              <a:t>Partial fill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423160" y="4617720"/>
            <a:ext cx="3474720" cy="292608"/>
          </a:xfrm>
          <a:prstGeom prst="rect">
            <a:avLst/>
          </a:prstGeom>
          <a:solidFill>
            <a:srgbClr val="EAE5DE"/>
          </a:solidFill>
          <a:ln w="12700">
            <a:solidFill>
              <a:srgbClr val="EAE5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23160" y="4617720"/>
            <a:ext cx="1494130" cy="292608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2057400"/>
            <a:ext cx="3931920" cy="2651760"/>
          </a:xfrm>
          <a:prstGeom prst="roundRect">
            <a:avLst>
              <a:gd name="adj" fmla="val 206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057400"/>
            <a:ext cx="73152" cy="265176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225856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Core lesson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2715768"/>
            <a:ext cx="349300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When expected moves are small, execution quality becomes part of the strategy rather than an afterthought.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POSITION SIZING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The stop still comes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Speed does not change the arithmetic.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754880" cy="3291840"/>
          </a:xfrm>
          <a:prstGeom prst="roundRect">
            <a:avLst>
              <a:gd name="adj" fmla="val 1667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73152" cy="329184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756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Simulated inputs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32888"/>
            <a:ext cx="4315968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Account = $10,000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Max trade loss = $50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Entry = $25.00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Invalidation = $24.75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4754880" cy="3291840"/>
          </a:xfrm>
          <a:prstGeom prst="roundRect">
            <a:avLst>
              <a:gd name="adj" fmla="val 1667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874520"/>
            <a:ext cx="73152" cy="329184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756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Output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532888"/>
            <a:ext cx="4315968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Risk/share = $0.25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$50 ÷ $0.25 = 200 shares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tighter stop increases size only if the tighter stop is actually justified by the thesis.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TRADE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 setup is a conditional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plan exists before the outcome.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Trend, range, liquidity?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Trigger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must happen first?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Invalidation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What proves it wrong?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Exit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Target, time or structure?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Size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Max loss ÷ risk/share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Write the trade before seeing the next candle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Groups of 2–3 • 8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023360" cy="3063240"/>
          </a:xfrm>
          <a:prstGeom prst="roundRect">
            <a:avLst>
              <a:gd name="adj" fmla="val 1791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73152" cy="306324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214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Scenario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3584448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liquid stock opens +1.2%. After 25 minutes it remains above a rising VWAP, then pulls back toward it on lower volume.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You do not know the next candle.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0" y="2011680"/>
            <a:ext cx="50292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Define the context in one sentence.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Write an exact entry trigger.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Write the invalidation condition.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Choose a maximum dollar loss.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Give one reason to skip the trade entirely.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Time horizon changes the problem.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VWAP is a reference, not an oracle.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Liquidity and execution can erase a small edge.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Invalidation defines risk; risk defines size.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add short selling and leverage — the same process, but with more ways for the account to force your hand.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— Frequent Intraday Trading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https://www.finra.org/investors/insights/frequent-intraday-trading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— Order Types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https://www.finra.org/investors/investing/investment-products/stocks/order-types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Margin Accounts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https://www.investor.gov/introduction-investing/general-resources/news-alerts/alerts-bulletins/investor-bulletins-29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— Day Trading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