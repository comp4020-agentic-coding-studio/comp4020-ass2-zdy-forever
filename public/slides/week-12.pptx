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12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Build Your Own Market Rulebook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A framework is useful because it tells you what not to trade, when not to trade, and how much uncertainty you are willing to carry.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JOURNAL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Synthesize instruments, time horizons, execution and risk into one personal framework.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Write explicit permitted/prohibited instrument rules.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Define entry, invalidation, sizing and review rules.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Separate paper trading/backtesting evidence from claims of future profitability.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928616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02920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4919472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Design a process for learning from outcomes without rewriting history.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RULEBOOK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Start with constraints, not setups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Your strategy sits inside a larger operating system.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Five layers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setup without constraints is not a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Purpose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Investing, trading, or both?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Universe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Which instruments are allowed?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Risk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can be lost and when?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Execution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will orders be entered/exited?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Review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How will evidence change the rules?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INSTRUMENT POLICY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Write the “no” list before the “yes” 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Complexity should be earned by understanding, not unlocked by a checkbox.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2461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Permitted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Products you understand well enough to explain exposure, financing and worst plausible failure modes.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2461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Conditional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Products allowed only under specific position-size, liquidity or experience constraints.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Prohibited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Products or leverage you cannot yet explain, size or monitor responsibly.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RISK POLICY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Turn preferences into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“I am conservative” is not a risk rule.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5B"/>
                </a:solidFill>
              </a:rPr>
              <a:t>Portfolio drawdown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</a:rPr>
              <a:t>At what decline do you pause/review?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5C88"/>
                </a:solidFill>
              </a:rPr>
              <a:t>Trade loss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496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</a:rPr>
              <a:t>Maximum dollar/% loss per trade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9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7B23"/>
                </a:solidFill>
              </a:rPr>
              <a:t>Leverage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2095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</a:rPr>
              <a:t>Maximum gross/notional exposure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22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7"/>
                </a:solidFill>
              </a:rPr>
              <a:t>Concentration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9227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</a:rPr>
              <a:t>Maximum single-name/sector exposure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7"/>
                </a:solidFill>
              </a:rPr>
              <a:t>Liquidity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4636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</a:rPr>
              <a:t>Minimum liquidity/spread condition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TRADE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Every trade should be reconstructable later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journal is evidence against your future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15087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market state did you observe?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73152" cy="15087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Trigger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exact event caused entry?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28800"/>
            <a:ext cx="73152" cy="15087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48716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observation proves the thesis wrong?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03320"/>
            <a:ext cx="73152" cy="15087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04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Size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36168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was the max loss and position size?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434840" y="370332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703320"/>
            <a:ext cx="73152" cy="150876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04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436168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rule closed the trade?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370332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703320"/>
            <a:ext cx="73152" cy="15087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904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Post-mortem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58200" y="4361688"/>
            <a:ext cx="2990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Was the process followed regardless of P/L?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PAPER TRADING AND BACKTESTING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Evidence is useful only if you respect its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simulated process can test mechanics; it cannot recreate every live-market constraint.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2461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Paper trading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Useful for order workflow, rule discipline and basic scenario rehearsal.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May understate emotional and execution frictions.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2461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Backtesting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Useful for checking how an explicit rule behaved on historical data.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Vulnerable to overfitting and data assumptions.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Live trading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Adds real spread, slippage, liquidity, psychology and capital constraints.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Start small if used at all.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REVIEW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Judge the decision separately from the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good trade can lose; a bad trade can win.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Process quality vs. realised P/L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Process review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Did I follow the entry rule?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Was invalidation defined beforehand?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Was size within policy?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Did I respect the exit rule?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Outcome review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happened after entry?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Were assumptions about liquidity/volatility wrong?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Did the environment differ from the tested regime?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evidence would justify changing the rule?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CAPSTONE 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Write the one-page rulebook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Individual • 20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56692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State your purpose and time horizon.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List permitted, conditional and prohibited instruments.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Define one portfolio-level and one trade-level risk limit.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a complete trade template from context to post-mortem.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Add one rule for when you must stop trading and review.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0" y="2103120"/>
            <a:ext cx="4069080" cy="2560320"/>
          </a:xfrm>
          <a:prstGeom prst="roundRect">
            <a:avLst>
              <a:gd name="adj" fmla="val 2143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2103120"/>
            <a:ext cx="73152" cy="25603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304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Final test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761488"/>
            <a:ext cx="363016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Could another person read your rulebook and know when you are *not allowed* to trade?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COURSE 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Twelve weeks, one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Complexity increases the number of ways a vague process can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Own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is the asset?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404872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87452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Execute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33472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How does the order trade?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06824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1874520"/>
            <a:ext cx="73152" cy="320040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Read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does price show?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08776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87452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Risk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makes the idea wrong?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10728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0728" y="187452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Leverage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39328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can force an exit?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012680" y="1874520"/>
            <a:ext cx="1664208" cy="3200400"/>
          </a:xfrm>
          <a:prstGeom prst="roundRect">
            <a:avLst>
              <a:gd name="adj" fmla="val 3297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12680" y="1874520"/>
            <a:ext cx="73152" cy="32004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07568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Review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0" y="2532888"/>
            <a:ext cx="12252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How does evidence change the rules?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A market rulebook begins with constraints and risk, not favourite indicators.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Instrument choice should reflect what you understand and can monitor.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Backtests and paper trading are evidence, not guarantees.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The quality of a process is not identical to one trade’s P/L.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End of course: the goal is not to trade everything — it is to know what you are doing when you choose to participate.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Asset Allocation &amp; Diversification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https://www.investor.gov/introduction-investing/getting-started/asset-allocation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https://www.investor.gov/introduction-investing/investing-basics/what-risk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Brokerage Accounts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https://www.finra.org/investors/investing/investment-accounts/brokerage-accounts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CFTC — Learn &amp; Protect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803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https://www.cftc.gov/LearnAndProtect/index.htm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462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OIC — Options Education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23360" y="44622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https://www.optionseducation.org/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— Build Your Own Market Rulebook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