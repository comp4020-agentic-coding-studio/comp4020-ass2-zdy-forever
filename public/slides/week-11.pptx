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11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Cryptocurrency Markets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Spot ownership, custody and perpetual leverage in a market that never closes.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WALLET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Distinguish spot crypto exposure from derivative exposure.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exchange custody versus self-custody at a conceptual level.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Describe perpetual futures and funding-rate intuition.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Compare crypto market structure with traditional markets without assuming it is “the same, just faster”.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SPOT EXPOSURE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do you actually own?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answer depends on the product and custody arrangement.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2461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Direct spot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hold the crypto asset through an exchange/custodian or self-custody arrangement.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2461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Exchange-traded product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hold a security/product that provides exposure; you do not necessarily hold the underlying asset directly.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Derivative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hold a contract whose value references the asset; leverage and liquidation mechanics may dominate.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CUSTODY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Private keys change the operational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Market risk is only one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Custodial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431596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third party controls/holds keys or access on your behalf.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Risks include intermediary failure, withdrawal restrictions and account compromise.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21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Self-custody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578608"/>
            <a:ext cx="431596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control the credentials/keys required to move assets.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Risks include key loss, poor backups and irreversible mistakes.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24/7 MARKETS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No closing bell does not mean no market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Liquidity, spreads and volatility still vary through 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ALWAYS OPEN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changes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Availability is not the same thing as opportunity.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Weekend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Traditional venues may be closed.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Liquidity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Participation can change by hour/day.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Volatility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Rapid moves can occur outside familiar sessions.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Custody and venue access matter continuously.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Discipline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A market that never closes can create behavioural overtrading.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PERPETUAL FUTURES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derivative without a traditional fixed expiry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Perpetual contracts typically use a funding mechanism to help keep contract price near the referenced spot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324612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No fixed expiry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27157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Position can remain open while margin requirements are met and the venue continues the contract.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73152" cy="32461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Funding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532888"/>
            <a:ext cx="27157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Periodic payments between long and short sides can incentivise convergence with spot.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Liquidation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532888"/>
            <a:ext cx="27157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Leverage can trigger forced closure when collateral becomes insufficient.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FUNDING-RATE INTUITION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Direction is not the whole carry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position can face periodic funding payments even if price barely moves.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754880" cy="3474720"/>
          </a:xfrm>
          <a:prstGeom prst="roundRect">
            <a:avLst>
              <a:gd name="adj" fmla="val 157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34747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Positive funding (simplified)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487168"/>
            <a:ext cx="431596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Longs pay shorts under common venue conventions.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persistent long position may incur carry cost.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4754880" cy="3474720"/>
          </a:xfrm>
          <a:prstGeom prst="roundRect">
            <a:avLst>
              <a:gd name="adj" fmla="val 157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73152" cy="34747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Negative funding (simplified)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487168"/>
            <a:ext cx="4315968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Shorts pay longs under common venue conventions.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sign and formula are venue-specific.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Funding conventions and calculation formulas vary by exchange; this slide teaches only the general mechanism.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Traditional stock market vs crypto 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Similar screens can hide different infrastructure.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Trading hours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15C88"/>
                </a:solidFill>
              </a:rPr>
              <a:t>Defined sessions + extended hours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0372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74437"/>
                </a:solidFill>
              </a:rPr>
              <a:t>Often 24/7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Custody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2514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15C88"/>
                </a:solidFill>
              </a:rPr>
              <a:t>Broker/custodian structure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03720" y="2514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74437"/>
                </a:solidFill>
              </a:rPr>
              <a:t>Custodial or self-custody choices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Settlement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3246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15C88"/>
                </a:solidFill>
              </a:rPr>
              <a:t>Regulated market infrastructure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74437"/>
                </a:solidFill>
              </a:rPr>
              <a:t>Varies by product/chain/venue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Leverage products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3977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15C88"/>
                </a:solidFill>
              </a:rPr>
              <a:t>Margin/options/futures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0372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74437"/>
                </a:solidFill>
              </a:rPr>
              <a:t>Perpetuals and other derivatives common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Operational risk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15C88"/>
                </a:solidFill>
              </a:rPr>
              <a:t>Broker/venue/account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03720" y="4709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74437"/>
                </a:solidFill>
              </a:rPr>
              <a:t>Plus keys, wallets, smart-contract/chain risks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Map the risk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Groups • 12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8521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Pick one crypto exposure: direct spot, an exchange-traded product, or a leveraged perpetual.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List price risk, custody/intermediary risk, liquidity risk and leverage risk.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Identify which risks are absent or reduced in the other two exposure types.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Conclude with one reason the cheapest-looking route may not be the safest route.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3886200" cy="2468880"/>
          </a:xfrm>
          <a:prstGeom prst="roundRect">
            <a:avLst>
              <a:gd name="adj" fmla="val 222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103120"/>
            <a:ext cx="73152" cy="2468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304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Reminder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60920" y="2761488"/>
            <a:ext cx="3447288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“Crypto” is not one instrument. The wrapper changes the risk.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Spot, ETP and derivative exposure are economically different.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Custody creates operational risk beyond price risk.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Perpetual futures add leverage, liquidation and funding mechanics.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24/7 access increases availability, not necessarily edge.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turn the whole semester into a personal rulebook that says not only what you will do, but what you refuse to 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Crypto Assets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https://www.investor.gov/additional-resources/spotlight/crypto-assets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Crypto Asset Custody Basics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https://www.investor.gov/introduction-investing/general-resources/news-alerts/alerts-bulletins/investor-bulletins/crypto-asset-custody-basics-retail-investors-investor-bulletin-0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Crypto Asset Investor Alert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https://www.investor.gov/introduction-investing/general-resources/news-alerts/alerts-bulletins/investor-alerts/crypto-asset-securities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— Cryptocurrency Markets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