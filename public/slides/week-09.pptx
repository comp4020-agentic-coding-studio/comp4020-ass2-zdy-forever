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Futures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A standardised contract can create large notional exposure from comparatively small posted margin.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EXPIRY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what a futures contract standardises.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Calculate notional exposure from contract size and price.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Distinguish futures margin from paying a down payment for ownership.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Explain daily mark-to-market intuition, expiry and basic basis/curve language.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CONTRACT 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A futures contract standardises the trade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exchange specifies what, how much and when.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155448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Underlying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Asset/index/commodity referenced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828800"/>
            <a:ext cx="73152" cy="15544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Contract size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48716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Quantity represented by one contract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828800"/>
            <a:ext cx="73152" cy="155448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29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Price quote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58200" y="248716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How the contract price is expressed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49040"/>
            <a:ext cx="73152" cy="15544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50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Expiry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40740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When the contract matures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434840" y="37490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3749040"/>
            <a:ext cx="73152" cy="155448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950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Tick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63440" y="440740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Minimum price increment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3749040"/>
            <a:ext cx="34290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749040"/>
            <a:ext cx="73152" cy="155448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39502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Margin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58200" y="4407408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Collateral/risk resources required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NOTIONAL EXPOSURE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The contract value can be much larger than posted margin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Notional ≈ contract multiplier × futures price.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709160" cy="3063240"/>
          </a:xfrm>
          <a:prstGeom prst="roundRect">
            <a:avLst>
              <a:gd name="adj" fmla="val 1791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73152" cy="306324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67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Simulated example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624328"/>
            <a:ext cx="427024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Multiplier = $50 per index point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Futures price = 5,000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Notional = 50 × 5,000 = $250,000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4709160" cy="3063240"/>
          </a:xfrm>
          <a:prstGeom prst="roundRect">
            <a:avLst>
              <a:gd name="adj" fmla="val 1791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30632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671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Interpretation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624328"/>
            <a:ext cx="4270248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Posting margin does not mean you “paid only part of the asset”.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It means a comparatively small amount of collateral can support a much larger contractual exposure.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MARGIN AND MARK-TO-MARKET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Futures equity moves as the contract is repriced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Margin is a risk-control mechanism, not the purchase price.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DAILY CYCLE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Simplified futures account mechanics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Exact processes and requirements vary by product, venue and intermediary.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Open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Enter long or short contract.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96896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770632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953512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Reprice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35224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Settlement price changes.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992624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75504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P/L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7216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Gain/loss is credited or debited.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4088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7214616" y="2331720"/>
            <a:ext cx="202996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C88"/>
                </a:solidFill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397496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Margin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79208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Account equity is compared with requirements.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62872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96660"/>
                </a:solidFill>
              </a:rPr>
              <a:t>→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9436608" y="2331720"/>
            <a:ext cx="2029968" cy="2148840"/>
          </a:xfrm>
          <a:prstGeom prst="roundRect">
            <a:avLst/>
          </a:prstGeom>
          <a:solidFill>
            <a:srgbClr val="FBEDEA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73768" y="2542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619488" y="297180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717"/>
                </a:solidFill>
              </a:rPr>
              <a:t>Action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0" y="352044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96660"/>
                </a:solidFill>
              </a:rPr>
              <a:t>Funds/position may need adjustment.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LONG AND SHORT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Futures are naturally two-sided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No share borrow is required to take a short futures position in the same way as shorting stock.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21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Long future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431596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Benefits from a rise in the futures price; loses from a fall.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Risk is tied to the full contract exposure, not only posted margin.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475488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214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Short future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578608"/>
            <a:ext cx="431596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Benefits from a fall in the futures price; loses from a rise.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 contract itself defines the short exposure.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EXPIRY AND BASIS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Futures price does not have to equal spot price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relationship changes as expiry approaches.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73152" cy="315468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Basis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Difference between futures and spot/cash price under a chosen convention.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73152" cy="315468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Contango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term often used when longer-dated futures prices are above nearer/spot levels.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874520"/>
            <a:ext cx="73152" cy="315468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75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Backwardation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32888"/>
            <a:ext cx="2807208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term often used when longer-dated futures prices are below nearer/spot levels.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Small price move, large dollar P/L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Simulated contract: multiplier $50/point.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754880" cy="3246120"/>
          </a:xfrm>
          <a:prstGeom prst="roundRect">
            <a:avLst>
              <a:gd name="adj" fmla="val 1690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324612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Move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43159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Long one contract at 5,000.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Price rises to 5,020.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Change = +20 points.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26480" y="1874520"/>
            <a:ext cx="4754880" cy="3246120"/>
          </a:xfrm>
          <a:prstGeom prst="roundRect">
            <a:avLst>
              <a:gd name="adj" fmla="val 1690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74520"/>
            <a:ext cx="73152" cy="324612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7568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P/L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532888"/>
            <a:ext cx="4315968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20 points × $50/point = +$1,000.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20-point loss would create −$1,000. The margin posted may be much smaller than notional.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Convert contracts into exposure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Individual • 12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76072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For three simulated futures contracts, calculate notional exposure from multiplier × price.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Calculate dollar P/L for a stated point move.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Compare P/L with the margin posted and explain why leverage is present.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Identify one reason a trader might use a future instead of buying the cash asset.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2103120"/>
            <a:ext cx="3977640" cy="2377440"/>
          </a:xfrm>
          <a:prstGeom prst="roundRect">
            <a:avLst>
              <a:gd name="adj" fmla="val 2308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103120"/>
            <a:ext cx="73152" cy="237744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230428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Do not confuse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2761488"/>
            <a:ext cx="353872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Margin posted ≠ maximum loss ≠ contract value.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A futures contract standardises quantity, price convention and expiry.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Notional exposure can be far larger than posted margin.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Futures P/L is tied to contract price changes and multiplier.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Expiry and the futures curve add another layer beyond direction.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options change the problem again by making the payoff itself nonlinear.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CFTC — Futures Glossary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https://www.cftc.gov/LearnAndProtect/AdvisoriesAndArticles/CFTCGlossary/index.htm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CFTC — Learn &amp; Protect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https://www.cftc.gov/LearnAndProtect/index.htm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— Futures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