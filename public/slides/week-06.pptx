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Swing Trading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Use trend, moving averages and price structure as context — then define where the idea fails.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PULLBACK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Describe a swing trade as a multi-day decision process.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Calculate and interpret simple and exponential moving averages conceptually.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Use moving averages as context rather than mechanical predictions.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Construct entry, invalidation, position-size and exit logic for a simulated swing setup.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WHAT SWING TRADING CHANGES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You can ignore some noise — but you inherit overnight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Holding for days creates time for a thesis to develop and time for new information to arrive.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73152" cy="31089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Opportunity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80720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Multi-day trends and pullbacks can be observed without reacting to every minute.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73152" cy="31089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78608"/>
            <a:ext cx="280720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More time in market means exposure to overnight gaps and catalysts.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92024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920240"/>
            <a:ext cx="73152" cy="31089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Discipline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78608"/>
            <a:ext cx="280720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clear invalidation prevents “swing trade” from becoming “accidental long-term investor”.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MOVING AVERAGES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smoother view of recent price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An average reduces noise by construction — and therefore reacts with delay.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4846320" cy="3063240"/>
          </a:xfrm>
          <a:prstGeom prst="roundRect">
            <a:avLst>
              <a:gd name="adj" fmla="val 1791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73152" cy="30632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671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24328"/>
            <a:ext cx="440740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Simple Moving Average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Each selected price receives equal weight.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Useful for a transparent trend reference.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4846320" cy="3063240"/>
          </a:xfrm>
          <a:prstGeom prst="roundRect">
            <a:avLst>
              <a:gd name="adj" fmla="val 1791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65960"/>
            <a:ext cx="73152" cy="306324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671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EMA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624328"/>
            <a:ext cx="440740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Exponential Moving Average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Recent prices receive more weight.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Responds faster, but still does not predict.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CHART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Moving average + structure + invalidation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line matters because of the rule around it, not because the line is magical.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583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32888"/>
            <a:ext cx="658368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36976"/>
            <a:ext cx="658368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41064"/>
            <a:ext cx="658368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645152"/>
            <a:ext cx="658368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0" cy="352044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3188" y="4117086"/>
            <a:ext cx="0" cy="70408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3752" y="4257904"/>
            <a:ext cx="118872" cy="31684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50492" y="3729838"/>
            <a:ext cx="0" cy="70408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1056" y="3870655"/>
            <a:ext cx="118872" cy="38724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7796" y="3589020"/>
            <a:ext cx="0" cy="59847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18360" y="3835451"/>
            <a:ext cx="118872" cy="246431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05100" y="3518611"/>
            <a:ext cx="0" cy="70408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5664" y="3659429"/>
            <a:ext cx="118872" cy="38724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2404" y="3236976"/>
            <a:ext cx="0" cy="633679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3342589"/>
            <a:ext cx="118872" cy="281635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59708" y="3025750"/>
            <a:ext cx="0" cy="59847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0272" y="3342589"/>
            <a:ext cx="118872" cy="14081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87012" y="2814523"/>
            <a:ext cx="0" cy="774497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7576" y="2920136"/>
            <a:ext cx="118872" cy="52806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4316" y="2603297"/>
            <a:ext cx="0" cy="56327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744114"/>
            <a:ext cx="118872" cy="17602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1620" y="2462479"/>
            <a:ext cx="0" cy="56327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2184" y="2779319"/>
            <a:ext cx="118872" cy="14081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8924" y="2708910"/>
            <a:ext cx="0" cy="633679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9488" y="2955341"/>
            <a:ext cx="118872" cy="246431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6228" y="2779319"/>
            <a:ext cx="0" cy="59847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2884932"/>
            <a:ext cx="118872" cy="352044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23532" y="2286457"/>
            <a:ext cx="0" cy="66888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64096" y="2427275"/>
            <a:ext cx="118872" cy="422453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9030" y="4328312"/>
            <a:ext cx="921715" cy="-176022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50746" y="4152290"/>
            <a:ext cx="921715" cy="-176022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72461" y="3976268"/>
            <a:ext cx="987552" cy="-211226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60013" y="3765042"/>
            <a:ext cx="987552" cy="-281635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47565" y="3483407"/>
            <a:ext cx="1053389" cy="-246431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00954" y="3236976"/>
            <a:ext cx="1250899" cy="-281635"/>
          </a:xfrm>
          <a:prstGeom prst="line">
            <a:avLst/>
          </a:prstGeom>
          <a:noFill/>
          <a:ln w="27940">
            <a:solidFill>
              <a:srgbClr val="A47B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6680" y="1920240"/>
            <a:ext cx="356616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71717"/>
                </a:solidFill>
              </a:rPr>
              <a:t>Trend context: price structure is making higher swings.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71717"/>
                </a:solidFill>
              </a:rPr>
              <a:t>Pullback: price returns toward a chosen reference.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71717"/>
                </a:solidFill>
              </a:rPr>
              <a:t>Trigger: define what must happen before entry.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71717"/>
                </a:solidFill>
              </a:rPr>
              <a:t>Invalidation: define where the trend thesis no longer holds.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pullback is not automatically a buy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swing example.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20756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Daily chart in an uptrend. Price remains above a rising 20-day average.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73152" cy="34747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Trigger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87168"/>
            <a:ext cx="20756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After a pullback, price closes above a defined prior-day high.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28800"/>
            <a:ext cx="73152" cy="34747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487168"/>
            <a:ext cx="20756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Break below the swing low that defined the pullback structure.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823960" y="182880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828800"/>
            <a:ext cx="73152" cy="34747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Size / Exit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52560" y="2487168"/>
            <a:ext cx="20756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Size from max loss; exit by target, trailing rule or invalidation.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COMMON FAILURE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When an indicator replaces a 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Crossovers can be useful rules, but a crossover alone does not answer why the trade should 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Signal versus process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Weak rule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“Buy when 10-day MA crosses above 20-day MA.”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No context for volatility, liquidity or market regime.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No explicit invalidation beyond the next signal.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Stronger process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Define trend/range context first.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 the average as one reference among price structure and volume.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Specify invalidation and position size before entry.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Design a swing trade without hindsight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Groups of 2–3 • 12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56235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Use the simulated chart provided by the instructor.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Choose one moving-average reference and justify why it fits the horizon.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context, trigger, invalidation, max loss and position size.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Add one reason the setup should be skipped even if the trigger occurs.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114800" cy="2468880"/>
          </a:xfrm>
          <a:prstGeom prst="roundRect">
            <a:avLst>
              <a:gd name="adj" fmla="val 222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103120"/>
            <a:ext cx="73152" cy="2468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3042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Forbidden answer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2761488"/>
            <a:ext cx="3675888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“Because the moving average says buy.”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indicator must sit inside a larger decision rule.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Swing trading trades days of exposure for less intraday noise.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Moving averages smooth price and therefore lag.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A moving average is context, not causality.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The trade plan still begins with invalidation and risk.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compress the holding period again — execution and liquidity move to centre stage.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Risk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https://www.investor.gov/introduction-investing/investing-basics/what-risk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Order Types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https://www.finra.org/investors/investing/investment-products/stocks/order-types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— Swing Trading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