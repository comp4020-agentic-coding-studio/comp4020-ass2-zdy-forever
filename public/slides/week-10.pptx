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10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Options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Direction is no longer enough: strike, time and volatility reshape the payoff.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calls, puts, strike price, expiry and premium.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Draw simple long-call and long-put payoff diagrams.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Separate intrinsic value from time/extrinsic value conceptually.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Use delta, theta and implied volatility as risk lenses rather than magic predictors.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" y="4928616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02920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4919472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Explain why defined-risk spreads can change payoff shape.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COMPARE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Two basic option rights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Different mechanisms create different risks.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6118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Call option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Buyer receives the right, not the obligation, to buy the underlying at the strike under the contract terms.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Buyer pays premium.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Value generally benefits from favourable upside, all else equal.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3611880"/>
          </a:xfrm>
          <a:prstGeom prst="roundRect">
            <a:avLst>
              <a:gd name="adj" fmla="val 151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20240"/>
            <a:ext cx="73152" cy="3611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214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Put option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78608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Buyer receives the right, not the obligation, to sell the underlying at the strike under the contract terms.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Buyer pays premium.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Value generally benefits from favourable downside, all else equal.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PAYOFF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Strike turns direction into geometry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At expiry, a long option’s value depends on where the underlying finishes relative to the strike.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937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689604"/>
            <a:ext cx="4663440" cy="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965960"/>
            <a:ext cx="0" cy="310896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689604"/>
            <a:ext cx="1777594" cy="0"/>
          </a:xfrm>
          <a:prstGeom prst="line">
            <a:avLst/>
          </a:prstGeom>
          <a:noFill/>
          <a:ln w="31750">
            <a:solidFill>
              <a:srgbClr val="315C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0442" y="3689604"/>
            <a:ext cx="1234440" cy="-1184148"/>
          </a:xfrm>
          <a:prstGeom prst="line">
            <a:avLst/>
          </a:prstGeom>
          <a:noFill/>
          <a:ln w="31750">
            <a:solidFill>
              <a:srgbClr val="315C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28800"/>
            <a:ext cx="4937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3689604"/>
            <a:ext cx="4663440" cy="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1965960"/>
            <a:ext cx="0" cy="310896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505456"/>
            <a:ext cx="1234440" cy="1184148"/>
          </a:xfrm>
          <a:prstGeom prst="line">
            <a:avLst/>
          </a:prstGeom>
          <a:noFill/>
          <a:ln w="31750">
            <a:solidFill>
              <a:srgbClr val="C744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16568" y="3689604"/>
            <a:ext cx="1777594" cy="0"/>
          </a:xfrm>
          <a:prstGeom prst="line">
            <a:avLst/>
          </a:prstGeom>
          <a:noFill/>
          <a:ln w="3175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Long call payoff shape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4437"/>
                </a:solidFill>
              </a:rPr>
              <a:t>Long put payoff shape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PREMIUM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Option price contains more than immediate exercise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Intrinsic value and extrinsic/time value answer different questions.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709160" cy="3063240"/>
          </a:xfrm>
          <a:prstGeom prst="roundRect">
            <a:avLst>
              <a:gd name="adj" fmla="val 1791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3152" cy="306324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67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Intrinsic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24328"/>
            <a:ext cx="427024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How much immediate exercise would be worth under a simplified European-style expiry view.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4709160" cy="3063240"/>
          </a:xfrm>
          <a:prstGeom prst="roundRect">
            <a:avLst>
              <a:gd name="adj" fmla="val 1791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30632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67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Extrinsic value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624328"/>
            <a:ext cx="427024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Value attributed to remaining time, volatility and other pricing inputs beyond intrinsic value.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GREEKS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Risk sensitivities, not fortune-telling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Greeks describe how option value may respond to small changes in inputs.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73152" cy="315468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Delta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Sensitivity to a small change in underlying price, all else equal.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1546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Theta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Sensitivity to passage of time, all else equal; often associated with time decay for long options.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74520"/>
            <a:ext cx="73152" cy="315468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Implied volatility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market-implied pricing input reflecting expected variability, not a direction forecast.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CALL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Being right on direction can still 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example at expiry.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" cy="34290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Position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487168"/>
            <a:ext cx="431596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 one call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Strike = $50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Premium = $3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Break-even at expiry = $53 before fees.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28800"/>
            <a:ext cx="73152" cy="34290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299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Outcomes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487168"/>
            <a:ext cx="4315968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Underlying finishes $52 → option intrinsic value $2, but premium paid was $3 → loss.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Underlying finishes $60 → intrinsic value $10 → net positive before costs.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DEFINED-RISK SPREAD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Combining options can reshape payoff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vertical spread trades some upside/downside for a bounded payoff region.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486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739896"/>
            <a:ext cx="5212080" cy="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965960"/>
            <a:ext cx="0" cy="3200400"/>
          </a:xfrm>
          <a:prstGeom prst="line">
            <a:avLst/>
          </a:prstGeom>
          <a:noFill/>
          <a:ln w="12700">
            <a:solidFill>
              <a:srgbClr val="696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087368"/>
            <a:ext cx="1371600" cy="0"/>
          </a:xfrm>
          <a:prstGeom prst="line">
            <a:avLst/>
          </a:prstGeom>
          <a:noFill/>
          <a:ln w="31750">
            <a:solidFill>
              <a:srgbClr val="2E6E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4087368"/>
            <a:ext cx="987552" cy="-1042416"/>
          </a:xfrm>
          <a:prstGeom prst="line">
            <a:avLst/>
          </a:prstGeom>
          <a:noFill/>
          <a:ln w="31750">
            <a:solidFill>
              <a:srgbClr val="2E6E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3044952"/>
            <a:ext cx="1207008" cy="0"/>
          </a:xfrm>
          <a:prstGeom prst="line">
            <a:avLst/>
          </a:prstGeom>
          <a:noFill/>
          <a:ln w="31750">
            <a:solidFill>
              <a:srgbClr val="2E6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920240"/>
            <a:ext cx="4114800" cy="3108960"/>
          </a:xfrm>
          <a:prstGeom prst="roundRect">
            <a:avLst>
              <a:gd name="adj" fmla="val 1765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920240"/>
            <a:ext cx="73152" cy="310896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1214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Example structure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2578608"/>
            <a:ext cx="3675888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Buy one call at a lower strike and sell one call at a higher strike with the same expiry.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Maximum gain and loss become bounded under the simplified expiry payoff.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Draw the payoff before discussing the trade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Pairs • 15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55778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Draw a long-call payoff at expiry for strike $50 and premium $3.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Mark maximum loss and break-even.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Then add a short higher-strike call and redraw the vertical-spread payoff.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Explain what upside was exchanged for what risk reduction.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023360" cy="2468880"/>
          </a:xfrm>
          <a:prstGeom prst="roundRect">
            <a:avLst>
              <a:gd name="adj" fmla="val 2222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2103120"/>
            <a:ext cx="73152" cy="24688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304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Constraint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2761488"/>
            <a:ext cx="3584448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Do the payoff geometry first. Do not start with “bullish” or “bearish”.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Calls and puts create rights with strike and expiry.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Premium includes more than immediate intrinsic value.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Delta, theta and implied volatility describe sensitivities.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Option payoff can lose even when your directional idea is partly correct.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crypto combines spot ownership, custody, 24/7 trading and leveraged perpetual derivatives.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Options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https://www.investor.gov/introduction-investing/investing-basics/glossary/options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Options Industry Council — Options Pricing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https://www.optionseducation.org/optionsoverview/options-pricing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OIC — Understanding Options Greeks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https://www.optionseducation.org/advancedconcepts/understanding-options-greeks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OIC — Volatility &amp; the Greeks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803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https://www.optionseducation.org/advancedconcepts/volatility-the-greeks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— Options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