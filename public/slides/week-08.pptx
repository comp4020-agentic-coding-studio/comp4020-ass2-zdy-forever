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RETAIL MARKET SURVIVAL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528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WEEK 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87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C74437"/>
                </a:solidFill>
              </a:rPr>
              <a:t>WEEK 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5087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</a:rPr>
              <a:t>Short Selling, Margin and Leverage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299923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96660"/>
                </a:solidFill>
              </a:rPr>
              <a:t>Leverage does not repair a weak process. It makes the consequences arrive faster.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0"/>
            <a:ext cx="37490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956816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2542032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127248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712464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8472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78824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09176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39528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520440"/>
            <a:ext cx="468173" cy="-2743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3453" y="3246120"/>
            <a:ext cx="409651" cy="1143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3104" y="3360420"/>
            <a:ext cx="497434" cy="-48006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0538" y="2880360"/>
            <a:ext cx="380390" cy="9144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2971800"/>
            <a:ext cx="468173" cy="-5029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79101" y="2468880"/>
            <a:ext cx="468173" cy="18288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47274" y="2651760"/>
            <a:ext cx="234086" cy="-4572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2984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SHORT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45752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0616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MARGIN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2984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LEVERAGE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45752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0616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CALL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Retail Market Survival • beginner-level course • not personalised financial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LEARNING 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you should be able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course is cumulative: each week gives the next week more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9384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2996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Explain the mechanics of short selling.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77977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Distinguish borrowed capital from owned capital.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2958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3419856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Calculate simple leverage and equity changes.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411480" cy="411480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279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4169664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</a:rPr>
              <a:t>Explain margin calls and forced liquidation as process risk, not just price risk.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SHORT SALE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How selling something you do not own can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Borrow availability and costs matter; shorting is not simply “negative buying”.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Borrow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Broker locates/loans shares.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96896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2770632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53512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Sell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35224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Borrowed shares are sold.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18888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992624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9784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175504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Price moves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57216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Position gains if price falls, loses if price rises.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40880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7214616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397496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Buy back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79208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Shares are repurchased.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62872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9436608" y="2331720"/>
            <a:ext cx="2029968" cy="2148840"/>
          </a:xfrm>
          <a:prstGeom prst="roundRect">
            <a:avLst/>
          </a:prstGeom>
          <a:solidFill>
            <a:srgbClr val="FBEDEA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3768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619488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Return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0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Borrowed shares are returned.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ASYMMETRY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Long loss is bounded by zero; short loss is not bounded by the stock price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price of a stock can fall only to zero, but can in principle rise far above your entry.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4800600" cy="3200400"/>
          </a:xfrm>
          <a:prstGeom prst="roundRect">
            <a:avLst>
              <a:gd name="adj" fmla="val 1714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73152" cy="320040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214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Long 100 shares at $50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578608"/>
            <a:ext cx="436168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Maximum stock-price loss if the company goes to zero: $5,000.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Upside is theoretically open-ended.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4800600" cy="3200400"/>
          </a:xfrm>
          <a:prstGeom prst="roundRect">
            <a:avLst>
              <a:gd name="adj" fmla="val 1714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920240"/>
            <a:ext cx="73152" cy="320040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214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Short 100 shares at $50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578608"/>
            <a:ext cx="436168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Gain is capped if price reaches zero.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Loss grows as the stock rises; there is no equivalent zero-price ceiling on loss.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LEVERAGE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Exposure can exceed your own capital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Leverage = notional exposure ÷ equity (simplified).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3200400" cy="2926080"/>
          </a:xfrm>
          <a:prstGeom prst="roundRect">
            <a:avLst>
              <a:gd name="adj" fmla="val 1875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11680"/>
            <a:ext cx="73152" cy="292608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1284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1×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670048"/>
            <a:ext cx="2761488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Equity $10,000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Exposure $10,000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10% asset move ≈ 10% equity move before costs.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80560" y="2011680"/>
            <a:ext cx="3200400" cy="2926080"/>
          </a:xfrm>
          <a:prstGeom prst="roundRect">
            <a:avLst>
              <a:gd name="adj" fmla="val 1875"/>
            </a:avLst>
          </a:prstGeom>
          <a:solidFill>
            <a:srgbClr val="F5F0E3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011680"/>
            <a:ext cx="73152" cy="292608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21284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2×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670048"/>
            <a:ext cx="2761488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Equity $10,000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Exposure $20,000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10% adverse move ≈ 20% equity loss before costs.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83880" y="2011680"/>
            <a:ext cx="3200400" cy="2926080"/>
          </a:xfrm>
          <a:prstGeom prst="roundRect">
            <a:avLst>
              <a:gd name="adj" fmla="val 1875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2011680"/>
            <a:ext cx="73152" cy="292608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21284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5×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670048"/>
            <a:ext cx="2761488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Equity $10,000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Exposure $50,000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10% adverse move ≈ 50% equity loss before costs.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MARGIN CALL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The account can force the timing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leveraged thesis can be “right eventually” and still fail because collateral becomes insufficient first.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FORCED PATH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When equity deteriorates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FINRA warns that firms can force sales in margin accounts under applicable conditions.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Position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Leveraged exposure exists.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96896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2770632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953512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Adverse move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35224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Equity falls faster than asset price.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18888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4992624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9784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175504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Requirement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57216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Maintenance threshold is breached.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040880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7214616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1776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397496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Action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79208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Additional funds or liquidation may be required.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62872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9436608" y="2331720"/>
            <a:ext cx="2029968" cy="2148840"/>
          </a:xfrm>
          <a:prstGeom prst="roundRect">
            <a:avLst/>
          </a:prstGeom>
          <a:solidFill>
            <a:srgbClr val="FBEDEA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73768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5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619488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Outcome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0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Broker can reduce exposure before your thesis recovers.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Why leverage changes the account before it changes the thesis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Simulated simplified arithmetic.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754880" cy="3429000"/>
          </a:xfrm>
          <a:prstGeom prst="roundRect">
            <a:avLst>
              <a:gd name="adj" fmla="val 1600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73152" cy="342900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2996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Unleveraged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487168"/>
            <a:ext cx="4315968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$10,000 equity buys $10,000 of stock.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15% decline → position ≈ $8,500.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Equity decline ≈ 15%.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4754880" cy="3429000"/>
          </a:xfrm>
          <a:prstGeom prst="roundRect">
            <a:avLst>
              <a:gd name="adj" fmla="val 1600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828800"/>
            <a:ext cx="73152" cy="342900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2996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2× leveraged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487168"/>
            <a:ext cx="4315968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$10,000 equity supports $20,000 exposure.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15% decline → position ≈ $17,000.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Debt still exists, so equity falls much more sharply.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Simplified illustration ignores interest, changing requirements and broker-specific calculations.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RISK BEYOND DIRECTION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Leverage introduces new failure modes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Being correct about price is no longer sufficient.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514600" cy="3291840"/>
          </a:xfrm>
          <a:prstGeom prst="roundRect">
            <a:avLst>
              <a:gd name="adj" fmla="val 2182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73152" cy="329184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75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Financing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32888"/>
            <a:ext cx="2075688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Interest or borrow costs can accumulate.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520440" y="1874520"/>
            <a:ext cx="2514600" cy="3291840"/>
          </a:xfrm>
          <a:prstGeom prst="roundRect">
            <a:avLst>
              <a:gd name="adj" fmla="val 2182"/>
            </a:avLst>
          </a:prstGeom>
          <a:solidFill>
            <a:srgbClr val="F5F0E3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874520"/>
            <a:ext cx="73152" cy="329184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075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Availability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2532888"/>
            <a:ext cx="2075688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Short borrow can be limited or recalled.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1874520"/>
            <a:ext cx="2514600" cy="3291840"/>
          </a:xfrm>
          <a:prstGeom prst="roundRect">
            <a:avLst>
              <a:gd name="adj" fmla="val 2182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874520"/>
            <a:ext cx="73152" cy="329184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075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Maintenance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532888"/>
            <a:ext cx="2075688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Requirements can force reduction.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006840" y="1874520"/>
            <a:ext cx="2514600" cy="3291840"/>
          </a:xfrm>
          <a:prstGeom prst="roundRect">
            <a:avLst>
              <a:gd name="adj" fmla="val 2182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1874520"/>
            <a:ext cx="73152" cy="329184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2075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Gap risk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35440" y="2532888"/>
            <a:ext cx="2075688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Price can jump past intended exits.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ACTIVITY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Leverage stress 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Pairs • 12 minutes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5669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Compare a 1× and 3× exposure to the same simulated 8% adverse move.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Calculate the approximate equity impact before costs.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Name two failure modes that do not require the long-run thesis to be wrong.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Rewrite the position so the maximum tolerable loss is respected.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95160" y="210312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160" y="2103120"/>
            <a:ext cx="73152" cy="237744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230428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Question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23760" y="2761488"/>
            <a:ext cx="3584448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What happens first: your thesis being disproved, or your financing constraint becoming binding?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should survive after the details fade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Carry these ideas into the next week.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84248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Short selling uses borrowed shares and has asymmetric loss potential.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79192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Leverage magnifies equity changes relative to asset changes.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74136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08760" y="32644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Margin creates financing and forced-timing risk.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384048" cy="384048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69080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959352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Leverage magnifies process quality — including bad process.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5C88"/>
                </a:solidFill>
              </a:rPr>
              <a:t>Next week: futures package leverage directly into a standardised derivative contract.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Further reading and reference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Primary educational sources used for definitions and risk framing.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Understanding Margin Accounts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2336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https://www.investor.gov/introduction-investing/general-resources/news-alerts/alerts-bulletins/investor-bulletins-29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FINRA — Margin Calls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23360" y="2487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https://www.finra.org/investors/insights/margin-calls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FINRA Rule 2264 — Margin Disclosure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023360" y="3145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https://www.finra.org/rules-guidance/rulebooks/finra-rules/2264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Educational material only. Examples are simulated unless explicitly identified as historical facts.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Slop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 — Short Selling, Margin and Leverage</dc:title>
  <dc:subject>Retail Market Survival lecture deck</dc:subject>
  <dc:creator>COMP4020 Assignment 2</dc:creator>
  <cp:lastModifiedBy>COMP4020 Assignment 2</cp:lastModifiedBy>
  <cp:revision>1</cp:revision>
  <dcterms:created xsi:type="dcterms:W3CDTF">2026-09-02T10:55:19Z</dcterms:created>
  <dcterms:modified xsi:type="dcterms:W3CDTF">2026-09-02T10:55:19Z</dcterms:modified>
</cp:coreProperties>
</file>